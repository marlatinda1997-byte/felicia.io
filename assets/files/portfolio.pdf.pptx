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58" r:id="rId6"/>
    <p:sldId id="259" r:id="rId7"/>
    <p:sldId id="260" r:id="rId8"/>
    <p:sldId id="262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9.png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 rot="20520000">
            <a:off x="1007110" y="1968500"/>
            <a:ext cx="9951085" cy="1805940"/>
          </a:xfrm>
        </p:spPr>
        <p:txBody>
          <a:bodyPr lIns="90000" tIns="46800" rIns="90000" bIns="46800" anchor="b" anchorCtr="0">
            <a:normAutofit/>
          </a:bodyPr>
          <a:lstStyle>
            <a:lvl1pPr algn="dist">
              <a:defRPr sz="6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CN" altLang="en-US" dirty="0"/>
              <a:t>仅作为作品展示</a:t>
            </a:r>
            <a:r>
              <a:rPr lang="zh-CN" altLang="en-US" dirty="0"/>
              <a:t>用</a:t>
            </a:r>
            <a:endParaRPr lang="zh-CN" altLang="en-US" dirty="0"/>
          </a:p>
        </p:txBody>
      </p:sp>
      <p:graphicFrame>
        <p:nvGraphicFramePr>
          <p:cNvPr id="4" name="表格 3"/>
          <p:cNvGraphicFramePr/>
          <p:nvPr/>
        </p:nvGraphicFramePr>
        <p:xfrm>
          <a:off x="853440" y="1143000"/>
          <a:ext cx="10681335" cy="5036820"/>
        </p:xfrm>
        <a:graphic>
          <a:graphicData uri="http://schemas.openxmlformats.org/drawingml/2006/table">
            <a:tbl>
              <a:tblPr/>
              <a:tblGrid>
                <a:gridCol w="3560445"/>
                <a:gridCol w="3560445"/>
                <a:gridCol w="3560445"/>
              </a:tblGrid>
              <a:tr h="316230">
                <a:tc gridSpan="3">
                  <a:txBody>
                    <a:bodyPr/>
                    <a:p>
                      <a:pPr marL="4318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KOC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脚本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产品植入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D355"/>
                    </a:solidFill>
                  </a:tcPr>
                </a:tc>
                <a:tc hMerge="1">
                  <a:tcP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5125">
                <a:tc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达人（含链接）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1D1"/>
                    </a:solidFill>
                  </a:tcPr>
                </a:tc>
                <a:tc gridSpan="2">
                  <a:txBody>
                    <a:bodyPr/>
                    <a:p>
                      <a:pPr marL="43180" indent="0" algn="l" font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6395">
                <a:tc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国家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1D1"/>
                    </a:solidFill>
                  </a:tcPr>
                </a:tc>
                <a:tc gridSpan="2">
                  <a:txBody>
                    <a:bodyPr/>
                    <a:p>
                      <a:pPr marL="43180" indent="0" algn="l" font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5125">
                <a:tc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语言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1D1"/>
                    </a:solidFill>
                  </a:tcPr>
                </a:tc>
                <a:tc gridSpan="2">
                  <a:txBody>
                    <a:bodyPr/>
                    <a:p>
                      <a:pPr marL="43180" indent="0" algn="l" font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受众群体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1D1"/>
                    </a:solidFill>
                  </a:tcPr>
                </a:tc>
                <a:tc gridSpan="2">
                  <a:txBody>
                    <a:bodyPr/>
                    <a:p>
                      <a:pPr marL="43180" indent="0" algn="l" fontAlgn="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t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视频类型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1D1"/>
                    </a:solidFill>
                  </a:tcPr>
                </a:tc>
                <a:tc gridSpan="2">
                  <a:txBody>
                    <a:bodyPr/>
                    <a:p>
                      <a:pPr marL="43180" indent="0" algn="l" font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镜头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1D1"/>
                    </a:solidFill>
                  </a:tcPr>
                </a:tc>
                <a:tc gridSpan="2">
                  <a:txBody>
                    <a:bodyPr/>
                    <a:p>
                      <a:pPr marL="43180" indent="0" algn="l" font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64235">
                <a:tc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1D1"/>
                    </a:solidFill>
                  </a:tcPr>
                </a:tc>
                <a:tc gridSpan="2"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</a:t>
                      </a: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达人参考自己过往的账号做垂类视频软植入即可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43180" indent="0" algn="l" font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</a:t>
                      </a: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根据台词语调有起伏，情绪饱满，表情有变化，搭配手势，微笑，说话有感染力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具体脚本（达人根据自己的频道风格填充内容）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开头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D7C3"/>
                    </a:solidFill>
                  </a:tcPr>
                </a:tc>
                <a:tc>
                  <a:txBody>
                    <a:bodyPr/>
                    <a:p>
                      <a:pPr marL="43180" indent="0" algn="l" font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5150">
                <a:tc>
                  <a:txBody>
                    <a:bodyPr/>
                    <a:p>
                      <a:pPr marL="431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达人使用产品的片段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（达人填充）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D7C3"/>
                    </a:solidFill>
                  </a:tcPr>
                </a:tc>
                <a:tc>
                  <a:txBody>
                    <a:bodyPr/>
                    <a:p>
                      <a:pPr marL="43180" indent="0" algn="l" font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marL="431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权益植入</a:t>
                      </a:r>
                      <a:endParaRPr lang="zh-CN" altLang="en-US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D7C3"/>
                    </a:solidFill>
                  </a:tcPr>
                </a:tc>
                <a:tc>
                  <a:txBody>
                    <a:bodyPr/>
                    <a:p>
                      <a:pPr marL="43180" indent="0" algn="l" font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Calibri" panose="020F05020202040302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marL="4318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1D1"/>
                    </a:solidFill>
                  </a:tcPr>
                </a:tc>
                <a:tc>
                  <a:txBody>
                    <a:bodyPr/>
                    <a:p>
                      <a:pPr marL="43180" indent="0" algn="l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CTA</a:t>
                      </a:r>
                      <a:endParaRPr lang="en-US" altLang="zh-CN" sz="10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D7C3"/>
                    </a:solidFill>
                  </a:tcPr>
                </a:tc>
                <a:tc>
                  <a:txBody>
                    <a:bodyPr/>
                    <a:p>
                      <a:pPr marL="43180" indent="0" algn="l" fontAlgn="ctr"/>
                      <a:endParaRPr sz="12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25400" marR="25400" marT="25400" marB="2540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40435" y="535220"/>
            <a:ext cx="4064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搭建的脚本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模板：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6" descr="17766694708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95" y="680720"/>
            <a:ext cx="10238105" cy="57867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90295" y="257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脚本案例：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1078865" y="5647055"/>
            <a:ext cx="1613535" cy="7861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419215" y="1284605"/>
            <a:ext cx="1985010" cy="1022985"/>
          </a:xfrm>
          <a:prstGeom prst="roundRect">
            <a:avLst/>
          </a:prstGeom>
          <a:solidFill>
            <a:schemeClr val="accent1">
              <a:alpha val="9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419215" y="5410200"/>
            <a:ext cx="1985010" cy="1022985"/>
          </a:xfrm>
          <a:prstGeom prst="roundRect">
            <a:avLst/>
          </a:prstGeom>
          <a:solidFill>
            <a:schemeClr val="accent1">
              <a:alpha val="91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3261360" y="1284605"/>
            <a:ext cx="434340" cy="38265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090295" y="257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脚本案例：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626110"/>
            <a:ext cx="6256020" cy="61036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645" y="897890"/>
            <a:ext cx="5799455" cy="59601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835" y="508635"/>
            <a:ext cx="6273165" cy="464185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3668395" y="2078990"/>
            <a:ext cx="1257935" cy="18561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9224010" y="972820"/>
            <a:ext cx="1257935" cy="13550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9224010" y="4182110"/>
            <a:ext cx="1257935" cy="18243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标题 13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 rot="20520000">
            <a:off x="1007110" y="1968500"/>
            <a:ext cx="9951085" cy="1805940"/>
          </a:xfrm>
        </p:spPr>
        <p:txBody>
          <a:bodyPr lIns="90000" tIns="46800" rIns="90000" bIns="46800" anchor="b" anchorCtr="0">
            <a:normAutofit/>
          </a:bodyPr>
          <a:lstStyle>
            <a:lvl1pPr algn="dist">
              <a:defRPr sz="6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CN" altLang="en-US" dirty="0"/>
              <a:t>仅作为作品展示</a:t>
            </a:r>
            <a:r>
              <a:rPr lang="zh-CN" altLang="en-US" dirty="0"/>
              <a:t>用</a:t>
            </a:r>
            <a:endParaRPr lang="zh-CN" altLang="en-US" dirty="0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25195" y="236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创意</a:t>
            </a:r>
            <a:r>
              <a:rPr lang="zh-CN" altLang="en-US"/>
              <a:t>主题提报：</a:t>
            </a: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704850" y="671195"/>
            <a:ext cx="10851515" cy="5678805"/>
            <a:chOff x="1538" y="1106"/>
            <a:chExt cx="16714" cy="8618"/>
          </a:xfrm>
        </p:grpSpPr>
        <p:pic>
          <p:nvPicPr>
            <p:cNvPr id="2" name="图片 5" descr="177666943454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38" y="1106"/>
              <a:ext cx="16714" cy="5655"/>
            </a:xfrm>
            <a:prstGeom prst="rect">
              <a:avLst/>
            </a:prstGeom>
          </p:spPr>
        </p:pic>
        <p:pic>
          <p:nvPicPr>
            <p:cNvPr id="3" name="图片 4" descr="a9e6b1be99b8dcc0ce5bd7224e0234f"/>
            <p:cNvPicPr>
              <a:picLocks noChangeAspect="1"/>
            </p:cNvPicPr>
            <p:nvPr/>
          </p:nvPicPr>
          <p:blipFill>
            <a:blip r:embed="rId2"/>
            <a:srcRect t="20306"/>
            <a:stretch>
              <a:fillRect/>
            </a:stretch>
          </p:blipFill>
          <p:spPr>
            <a:xfrm>
              <a:off x="1538" y="6808"/>
              <a:ext cx="16608" cy="2916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/>
        </p:nvSpPr>
        <p:spPr>
          <a:xfrm>
            <a:off x="3680460" y="3340100"/>
            <a:ext cx="186055" cy="889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917690" y="5253990"/>
            <a:ext cx="476250" cy="1346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001135" y="4943475"/>
            <a:ext cx="444500" cy="1136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 rot="20520000">
            <a:off x="1007110" y="1968500"/>
            <a:ext cx="9951085" cy="1805940"/>
          </a:xfrm>
        </p:spPr>
        <p:txBody>
          <a:bodyPr lIns="90000" tIns="46800" rIns="90000" bIns="46800" anchor="b" anchorCtr="0">
            <a:normAutofit/>
          </a:bodyPr>
          <a:lstStyle>
            <a:lvl1pPr algn="dist">
              <a:defRPr sz="6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CN" altLang="en-US" dirty="0"/>
              <a:t>仅作为作品展示</a:t>
            </a:r>
            <a:r>
              <a:rPr lang="zh-CN" altLang="en-US" dirty="0"/>
              <a:t>用</a:t>
            </a:r>
            <a:endParaRPr lang="zh-CN" altLang="en-US" dirty="0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680" y="650240"/>
            <a:ext cx="9947275" cy="55575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792605" y="744220"/>
            <a:ext cx="2203450" cy="4857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454150" y="1356995"/>
            <a:ext cx="1034415" cy="3924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363720" y="3780790"/>
            <a:ext cx="1189355" cy="3409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579870" y="2852420"/>
            <a:ext cx="4074160" cy="4235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25195" y="236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广告</a:t>
            </a:r>
            <a:r>
              <a:rPr lang="zh-CN" altLang="en-US"/>
              <a:t>制作：</a:t>
            </a:r>
            <a:endParaRPr lang="zh-CN" altLang="en-US"/>
          </a:p>
        </p:txBody>
      </p:sp>
      <p:sp>
        <p:nvSpPr>
          <p:cNvPr id="15" name="标题 14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 rot="20520000">
            <a:off x="1007110" y="1968500"/>
            <a:ext cx="9951085" cy="1805940"/>
          </a:xfrm>
        </p:spPr>
        <p:txBody>
          <a:bodyPr lIns="90000" tIns="46800" rIns="90000" bIns="46800" anchor="b" anchorCtr="0">
            <a:normAutofit/>
          </a:bodyPr>
          <a:lstStyle>
            <a:lvl1pPr algn="dist">
              <a:defRPr sz="6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CN" altLang="en-US" dirty="0"/>
              <a:t>仅作为作品展示</a:t>
            </a:r>
            <a:r>
              <a:rPr lang="zh-CN" altLang="en-US" dirty="0"/>
              <a:t>用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89280" y="1123315"/>
            <a:ext cx="1100645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在达人筛选阶段，我会结合产品类型和目标市场，建立基础筛选标准，例如内容类型（剧情</a:t>
            </a:r>
            <a:r>
              <a:rPr lang="en-US" altLang="zh-CN" sz="1600"/>
              <a:t>/</a:t>
            </a:r>
            <a:r>
              <a:rPr lang="zh-CN" altLang="en-US" sz="1600"/>
              <a:t>测评</a:t>
            </a:r>
            <a:r>
              <a:rPr lang="en-US" altLang="zh-CN" sz="1600"/>
              <a:t>/</a:t>
            </a:r>
            <a:r>
              <a:rPr lang="zh-CN" altLang="en-US" sz="1600"/>
              <a:t>娱乐向）、受众匹配度、过往合作内容表现（播放、互动率）、以及是否具备本地化表达能力。在这个基础上，我筛选了</a:t>
            </a:r>
            <a:r>
              <a:rPr lang="en-US" altLang="zh-CN" sz="1600"/>
              <a:t>1000+</a:t>
            </a:r>
            <a:r>
              <a:rPr lang="zh-CN" altLang="en-US" sz="1600"/>
              <a:t>达人，并沉淀了一套简单的标签体系，方便后续快速复用和批量筛选。如下图，为某项目的筛选</a:t>
            </a:r>
            <a:r>
              <a:rPr lang="zh-CN" altLang="en-US" sz="1600"/>
              <a:t>列表。</a:t>
            </a:r>
            <a:endParaRPr lang="zh-CN" altLang="en-US" sz="1600"/>
          </a:p>
          <a:p>
            <a:endParaRPr lang="zh-CN" altLang="en-US" sz="1600"/>
          </a:p>
        </p:txBody>
      </p:sp>
      <p:grpSp>
        <p:nvGrpSpPr>
          <p:cNvPr id="19" name="组合 18"/>
          <p:cNvGrpSpPr/>
          <p:nvPr/>
        </p:nvGrpSpPr>
        <p:grpSpPr>
          <a:xfrm>
            <a:off x="0" y="2097405"/>
            <a:ext cx="12192000" cy="2860040"/>
            <a:chOff x="0" y="3669"/>
            <a:chExt cx="19200" cy="450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3669"/>
              <a:ext cx="19200" cy="4504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1796" y="4668"/>
              <a:ext cx="672" cy="3494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843" y="4668"/>
              <a:ext cx="672" cy="3494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0193" y="4364"/>
              <a:ext cx="588" cy="3797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7044" y="4376"/>
              <a:ext cx="438" cy="3797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8369" y="4376"/>
              <a:ext cx="438" cy="3797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3923" y="4803"/>
              <a:ext cx="655" cy="20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4292" y="7742"/>
              <a:ext cx="504" cy="134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14578" y="6599"/>
              <a:ext cx="504" cy="134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标题 25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 rot="20520000">
            <a:off x="1007110" y="1968500"/>
            <a:ext cx="9951085" cy="1805940"/>
          </a:xfrm>
        </p:spPr>
        <p:txBody>
          <a:bodyPr lIns="90000" tIns="46800" rIns="90000" bIns="46800" anchor="b" anchorCtr="0">
            <a:normAutofit/>
          </a:bodyPr>
          <a:lstStyle>
            <a:lvl1pPr algn="dist">
              <a:defRPr sz="6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CN" altLang="en-US" dirty="0"/>
              <a:t>仅作为作品展示</a:t>
            </a:r>
            <a:r>
              <a:rPr lang="zh-CN" altLang="en-US" dirty="0"/>
              <a:t>用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450850" y="385445"/>
            <a:ext cx="111512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在建联阶段，我主要通过邮件、</a:t>
            </a:r>
            <a:r>
              <a:rPr lang="en-US" altLang="zh-CN" sz="1600">
                <a:sym typeface="+mn-ea"/>
              </a:rPr>
              <a:t>Instagram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>
                <a:sym typeface="+mn-ea"/>
              </a:rPr>
              <a:t>TikTok</a:t>
            </a:r>
            <a:r>
              <a:rPr lang="zh-CN" altLang="en-US" sz="1600">
                <a:sym typeface="+mn-ea"/>
              </a:rPr>
              <a:t>私信等多渠道触达达，同时会针对不同类型达人调整沟通话术。</a:t>
            </a:r>
            <a:endParaRPr lang="zh-CN" altLang="en-US" sz="1600">
              <a:sym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70230" y="722630"/>
            <a:ext cx="10911840" cy="3368040"/>
            <a:chOff x="1350" y="2748"/>
            <a:chExt cx="17184" cy="530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rcRect l="3828"/>
            <a:stretch>
              <a:fillRect/>
            </a:stretch>
          </p:blipFill>
          <p:spPr>
            <a:xfrm>
              <a:off x="1350" y="2748"/>
              <a:ext cx="17184" cy="5304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1631" y="3610"/>
              <a:ext cx="4053" cy="302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223" y="3912"/>
              <a:ext cx="1193" cy="317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731" y="3021"/>
              <a:ext cx="1193" cy="317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684" y="4447"/>
              <a:ext cx="925" cy="268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1108" y="4447"/>
              <a:ext cx="2402" cy="268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632" y="5250"/>
              <a:ext cx="16639" cy="1459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邮件触达</a:t>
              </a:r>
              <a:r>
                <a:rPr lang="zh-CN" altLang="en-US"/>
                <a:t>内容</a:t>
              </a:r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5794" y="6931"/>
              <a:ext cx="1093" cy="283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5884" y="4647"/>
              <a:ext cx="925" cy="268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450850" y="6395720"/>
            <a:ext cx="109118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对于</a:t>
            </a:r>
            <a:r>
              <a:rPr lang="en-US" altLang="zh-CN" sz="1600">
                <a:sym typeface="+mn-ea"/>
              </a:rPr>
              <a:t>MCN</a:t>
            </a:r>
            <a:r>
              <a:rPr lang="zh-CN" altLang="en-US" sz="1600">
                <a:sym typeface="+mn-ea"/>
              </a:rPr>
              <a:t>，会邀请入驻我们的广告平台，我沉淀一整套</a:t>
            </a:r>
            <a:r>
              <a:rPr lang="en-US" altLang="zh-CN" sz="1600">
                <a:sym typeface="+mn-ea"/>
              </a:rPr>
              <a:t>SOP</a:t>
            </a:r>
            <a:r>
              <a:rPr lang="zh-CN" altLang="en-US" sz="1600">
                <a:sym typeface="+mn-ea"/>
              </a:rPr>
              <a:t>经验。由于签署</a:t>
            </a:r>
            <a:r>
              <a:rPr lang="en-US" altLang="zh-CN" sz="1600">
                <a:sym typeface="+mn-ea"/>
              </a:rPr>
              <a:t>NDA</a:t>
            </a:r>
            <a:r>
              <a:rPr lang="zh-CN" altLang="en-US" sz="1600">
                <a:sym typeface="+mn-ea"/>
              </a:rPr>
              <a:t>，暂不</a:t>
            </a:r>
            <a:r>
              <a:rPr lang="zh-CN" altLang="en-US" sz="1600">
                <a:sym typeface="+mn-ea"/>
              </a:rPr>
              <a:t>能展示。</a:t>
            </a:r>
            <a:endParaRPr lang="zh-CN" altLang="en-US" sz="1600"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0230" y="4212590"/>
            <a:ext cx="10911840" cy="206121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buFont typeface="Arial" panose="020B0604020202020204"/>
              <a:buChar char="•"/>
            </a:pPr>
            <a:r>
              <a:rPr lang="en-US" altLang="zh-CN" sz="1600"/>
              <a:t> </a:t>
            </a:r>
            <a:r>
              <a:rPr lang="zh-CN" altLang="en-US" sz="1600"/>
              <a:t>对头部达人，会更强调品牌背书和长期合作可能性 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 对中腰部达人，会突出内容创作空间和合作灵活度 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相比直接模板式群发，我更倾向于定制化</a:t>
            </a:r>
            <a:r>
              <a:rPr lang="zh-CN" altLang="en-US" sz="1600"/>
              <a:t>内容（例如提及对方过往内容），这样能明显提升回复率。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在合作推进阶段，我会重点做两件事：</a:t>
            </a:r>
            <a:endParaRPr lang="zh-CN" altLang="en-US" sz="1600"/>
          </a:p>
          <a:p>
            <a:r>
              <a:rPr lang="zh-CN" altLang="en-US" sz="1600"/>
              <a:t> 一是尽量在前期确认清楚合作意愿和内容方向，减少后期反复沟通；</a:t>
            </a:r>
            <a:endParaRPr lang="zh-CN" altLang="en-US" sz="1600"/>
          </a:p>
          <a:p>
            <a:r>
              <a:rPr lang="zh-CN" altLang="en-US" sz="1600"/>
              <a:t> 二是把关键节点（脚本确认、素材交付、发布时间）前置说明，避免执行阶段出现卡点。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01395" y="989965"/>
            <a:ext cx="9982200" cy="47078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进行网红合作的经验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精准筛选：根据目标市场、受众特征（如地区、语言、年龄、性别等）选择与品牌调性高度匹配的网红，确保其粉丝群体与目标客户一致，提高营销针对性。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标签化选红：善用中长尾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KOL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资源，因其受众垂直、价格合理，便于持续投放并保障效果。通过多维度数据筛选，排除数据造假或影响力不佳的网红，降低风险。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减少“地陪”：选择流量直签平台，避免中间商环节，提升沟通效率和优化节奏。同时可通过数据筛查真量，确保网红流量的真实性。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本土化运营：采用符合地域文化的创意设计，使用本地母语团队与网红高效沟通，提升内容的相关性和用户接受度。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86%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的本土化广告在点击率和转化率上优于英文版。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定制化内容：结合“产品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地域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网红”三位一体的方式，制作量身订造的素材创意，增强内容吸引力和传播力。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精细化管理：关注网红风格差异和地域风俗偏好，结合市场偏向打造本地化，提高内容适配性和执行效率。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数据反馈与优化：及时获取数据反馈，调整策略以实现最优效果。例如，短视频平台的算法推荐机制可降低内容冷启动难度，帮助快速触达目标人群。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1194</Words>
  <Application>WPS 演示</Application>
  <PresentationFormat>宽屏</PresentationFormat>
  <Paragraphs>123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Calibri</vt:lpstr>
      <vt:lpstr>Arial</vt:lpstr>
      <vt:lpstr>WPS</vt:lpstr>
      <vt:lpstr>仅作为作品展示用</vt:lpstr>
      <vt:lpstr>仅作为作品展示用</vt:lpstr>
      <vt:lpstr>仅作为作品展示用</vt:lpstr>
      <vt:lpstr>仅作为作品展示用</vt:lpstr>
      <vt:lpstr>仅作为作品展示用</vt:lpstr>
      <vt:lpstr>仅作为作品展示用</vt:lpstr>
      <vt:lpstr>仅作为作品展示用</vt:lpstr>
      <vt:lpstr>仅作为作品展示用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Atheist.</cp:lastModifiedBy>
  <cp:revision>159</cp:revision>
  <dcterms:created xsi:type="dcterms:W3CDTF">2019-06-19T02:08:00Z</dcterms:created>
  <dcterms:modified xsi:type="dcterms:W3CDTF">2026-04-20T08:29:27Z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D1F83BBCF2DC45409A30027B950216CE_11</vt:lpwstr>
  </property>
</Properties>
</file>